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marr Rice" userId="7d44ff29-1970-4b56-8ae0-b1e498358a11" providerId="ADAL" clId="{66851F83-875F-45A8-B685-C17B94A85D8A}"/>
    <pc:docChg chg="modSld">
      <pc:chgData name="Demarr Rice" userId="7d44ff29-1970-4b56-8ae0-b1e498358a11" providerId="ADAL" clId="{66851F83-875F-45A8-B685-C17B94A85D8A}" dt="2023-01-19T16:08:19.492" v="0" actId="1036"/>
      <pc:docMkLst>
        <pc:docMk/>
      </pc:docMkLst>
      <pc:sldChg chg="modSp mod">
        <pc:chgData name="Demarr Rice" userId="7d44ff29-1970-4b56-8ae0-b1e498358a11" providerId="ADAL" clId="{66851F83-875F-45A8-B685-C17B94A85D8A}" dt="2023-01-19T16:08:19.492" v="0" actId="1036"/>
        <pc:sldMkLst>
          <pc:docMk/>
          <pc:sldMk cId="1258910255" sldId="263"/>
        </pc:sldMkLst>
        <pc:picChg chg="mod">
          <ac:chgData name="Demarr Rice" userId="7d44ff29-1970-4b56-8ae0-b1e498358a11" providerId="ADAL" clId="{66851F83-875F-45A8-B685-C17B94A85D8A}" dt="2023-01-19T16:08:19.492" v="0" actId="1036"/>
          <ac:picMkLst>
            <pc:docMk/>
            <pc:sldMk cId="1258910255" sldId="263"/>
            <ac:picMk id="7" creationId="{E79F8A3F-2998-F7F0-D41D-32980856E10E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EA3B7A-937B-4762-B625-7A880EABD8E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3CB30B7-6D81-4BF6-99E4-6DF55C4BF0AD}">
      <dgm:prSet/>
      <dgm:spPr/>
      <dgm:t>
        <a:bodyPr/>
        <a:lstStyle/>
        <a:p>
          <a:r>
            <a:rPr lang="en-US"/>
            <a:t>Education </a:t>
          </a:r>
        </a:p>
      </dgm:t>
    </dgm:pt>
    <dgm:pt modelId="{9C579308-4A8A-40D5-BA58-44E922BA061F}" type="parTrans" cxnId="{DC0DA195-D47D-402A-BA48-6DDE4030E91D}">
      <dgm:prSet/>
      <dgm:spPr/>
      <dgm:t>
        <a:bodyPr/>
        <a:lstStyle/>
        <a:p>
          <a:endParaRPr lang="en-US"/>
        </a:p>
      </dgm:t>
    </dgm:pt>
    <dgm:pt modelId="{6BA2D137-5F79-46EE-A61B-74C55ADC3ED7}" type="sibTrans" cxnId="{DC0DA195-D47D-402A-BA48-6DDE4030E91D}">
      <dgm:prSet/>
      <dgm:spPr/>
      <dgm:t>
        <a:bodyPr/>
        <a:lstStyle/>
        <a:p>
          <a:endParaRPr lang="en-US"/>
        </a:p>
      </dgm:t>
    </dgm:pt>
    <dgm:pt modelId="{1A614CFC-5DBA-4CA6-9878-BEA4FC6E5CFC}">
      <dgm:prSet/>
      <dgm:spPr/>
      <dgm:t>
        <a:bodyPr/>
        <a:lstStyle/>
        <a:p>
          <a:r>
            <a:rPr lang="en-US"/>
            <a:t>Income</a:t>
          </a:r>
        </a:p>
      </dgm:t>
    </dgm:pt>
    <dgm:pt modelId="{C22AA7AD-2FE6-4881-87BD-0055D3121B5B}" type="parTrans" cxnId="{53ED27B4-5F45-4D0B-B935-5B1495D7DD7D}">
      <dgm:prSet/>
      <dgm:spPr/>
      <dgm:t>
        <a:bodyPr/>
        <a:lstStyle/>
        <a:p>
          <a:endParaRPr lang="en-US"/>
        </a:p>
      </dgm:t>
    </dgm:pt>
    <dgm:pt modelId="{94E71E9E-2140-475E-BE72-92DD9AE87247}" type="sibTrans" cxnId="{53ED27B4-5F45-4D0B-B935-5B1495D7DD7D}">
      <dgm:prSet/>
      <dgm:spPr/>
      <dgm:t>
        <a:bodyPr/>
        <a:lstStyle/>
        <a:p>
          <a:endParaRPr lang="en-US"/>
        </a:p>
      </dgm:t>
    </dgm:pt>
    <dgm:pt modelId="{AA2A58AE-6639-4C6C-8456-C98B666D6209}">
      <dgm:prSet/>
      <dgm:spPr/>
      <dgm:t>
        <a:bodyPr/>
        <a:lstStyle/>
        <a:p>
          <a:r>
            <a:rPr lang="en-US"/>
            <a:t>Unemployment</a:t>
          </a:r>
        </a:p>
      </dgm:t>
    </dgm:pt>
    <dgm:pt modelId="{26469AA7-EBA7-4928-99BF-12688B2743E3}" type="parTrans" cxnId="{22193E01-9223-47A2-9EA0-DEE0CB4DF1B0}">
      <dgm:prSet/>
      <dgm:spPr/>
      <dgm:t>
        <a:bodyPr/>
        <a:lstStyle/>
        <a:p>
          <a:endParaRPr lang="en-US"/>
        </a:p>
      </dgm:t>
    </dgm:pt>
    <dgm:pt modelId="{9E224C50-EEA1-45E1-9C03-D8686DB2F666}" type="sibTrans" cxnId="{22193E01-9223-47A2-9EA0-DEE0CB4DF1B0}">
      <dgm:prSet/>
      <dgm:spPr/>
      <dgm:t>
        <a:bodyPr/>
        <a:lstStyle/>
        <a:p>
          <a:endParaRPr lang="en-US"/>
        </a:p>
      </dgm:t>
    </dgm:pt>
    <dgm:pt modelId="{CC3BBEC0-77CD-4004-984C-811B1F57B1D1}" type="pres">
      <dgm:prSet presAssocID="{CAEA3B7A-937B-4762-B625-7A880EABD8E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5182099-7EF5-473E-8352-FAFBFF8A6392}" type="pres">
      <dgm:prSet presAssocID="{13CB30B7-6D81-4BF6-99E4-6DF55C4BF0AD}" presName="hierRoot1" presStyleCnt="0"/>
      <dgm:spPr/>
    </dgm:pt>
    <dgm:pt modelId="{C8C204B8-4EF3-4ACB-9C61-71D75149E3EF}" type="pres">
      <dgm:prSet presAssocID="{13CB30B7-6D81-4BF6-99E4-6DF55C4BF0AD}" presName="composite" presStyleCnt="0"/>
      <dgm:spPr/>
    </dgm:pt>
    <dgm:pt modelId="{CD9BD3B5-B67A-4153-B683-64CD34AC47A5}" type="pres">
      <dgm:prSet presAssocID="{13CB30B7-6D81-4BF6-99E4-6DF55C4BF0AD}" presName="background" presStyleLbl="node0" presStyleIdx="0" presStyleCnt="3"/>
      <dgm:spPr/>
    </dgm:pt>
    <dgm:pt modelId="{185D6C03-75C1-4A8B-8BE7-279DBE7876E6}" type="pres">
      <dgm:prSet presAssocID="{13CB30B7-6D81-4BF6-99E4-6DF55C4BF0AD}" presName="text" presStyleLbl="fgAcc0" presStyleIdx="0" presStyleCnt="3">
        <dgm:presLayoutVars>
          <dgm:chPref val="3"/>
        </dgm:presLayoutVars>
      </dgm:prSet>
      <dgm:spPr/>
    </dgm:pt>
    <dgm:pt modelId="{879A0D21-9759-48AE-B328-DF5EA156CAD8}" type="pres">
      <dgm:prSet presAssocID="{13CB30B7-6D81-4BF6-99E4-6DF55C4BF0AD}" presName="hierChild2" presStyleCnt="0"/>
      <dgm:spPr/>
    </dgm:pt>
    <dgm:pt modelId="{0174CD91-62C9-47CF-AF15-2EF6D39200F0}" type="pres">
      <dgm:prSet presAssocID="{1A614CFC-5DBA-4CA6-9878-BEA4FC6E5CFC}" presName="hierRoot1" presStyleCnt="0"/>
      <dgm:spPr/>
    </dgm:pt>
    <dgm:pt modelId="{319EC8A1-49CA-4FA7-AF39-5E8335C05222}" type="pres">
      <dgm:prSet presAssocID="{1A614CFC-5DBA-4CA6-9878-BEA4FC6E5CFC}" presName="composite" presStyleCnt="0"/>
      <dgm:spPr/>
    </dgm:pt>
    <dgm:pt modelId="{3DC3DDBB-5AC5-4EF4-9051-12965F503FA3}" type="pres">
      <dgm:prSet presAssocID="{1A614CFC-5DBA-4CA6-9878-BEA4FC6E5CFC}" presName="background" presStyleLbl="node0" presStyleIdx="1" presStyleCnt="3"/>
      <dgm:spPr/>
    </dgm:pt>
    <dgm:pt modelId="{44AEBB9B-374E-40CD-82C6-BC7033C8ADB2}" type="pres">
      <dgm:prSet presAssocID="{1A614CFC-5DBA-4CA6-9878-BEA4FC6E5CFC}" presName="text" presStyleLbl="fgAcc0" presStyleIdx="1" presStyleCnt="3">
        <dgm:presLayoutVars>
          <dgm:chPref val="3"/>
        </dgm:presLayoutVars>
      </dgm:prSet>
      <dgm:spPr/>
    </dgm:pt>
    <dgm:pt modelId="{3EBDF20C-710D-4075-A624-CD891A8C39E7}" type="pres">
      <dgm:prSet presAssocID="{1A614CFC-5DBA-4CA6-9878-BEA4FC6E5CFC}" presName="hierChild2" presStyleCnt="0"/>
      <dgm:spPr/>
    </dgm:pt>
    <dgm:pt modelId="{311A6097-8302-4EC3-ABB6-6C2B91B8ECBF}" type="pres">
      <dgm:prSet presAssocID="{AA2A58AE-6639-4C6C-8456-C98B666D6209}" presName="hierRoot1" presStyleCnt="0"/>
      <dgm:spPr/>
    </dgm:pt>
    <dgm:pt modelId="{E123BF69-6F08-41DD-B3E8-C8102665A8FC}" type="pres">
      <dgm:prSet presAssocID="{AA2A58AE-6639-4C6C-8456-C98B666D6209}" presName="composite" presStyleCnt="0"/>
      <dgm:spPr/>
    </dgm:pt>
    <dgm:pt modelId="{F5D0DFAE-8B80-4FA7-AA10-8A4DE4973422}" type="pres">
      <dgm:prSet presAssocID="{AA2A58AE-6639-4C6C-8456-C98B666D6209}" presName="background" presStyleLbl="node0" presStyleIdx="2" presStyleCnt="3"/>
      <dgm:spPr/>
    </dgm:pt>
    <dgm:pt modelId="{D4BEA02E-366E-45F9-96B3-4D4A61B9D754}" type="pres">
      <dgm:prSet presAssocID="{AA2A58AE-6639-4C6C-8456-C98B666D6209}" presName="text" presStyleLbl="fgAcc0" presStyleIdx="2" presStyleCnt="3">
        <dgm:presLayoutVars>
          <dgm:chPref val="3"/>
        </dgm:presLayoutVars>
      </dgm:prSet>
      <dgm:spPr/>
    </dgm:pt>
    <dgm:pt modelId="{03C77C3B-D13F-40A7-A522-9B9DA3147BCE}" type="pres">
      <dgm:prSet presAssocID="{AA2A58AE-6639-4C6C-8456-C98B666D6209}" presName="hierChild2" presStyleCnt="0"/>
      <dgm:spPr/>
    </dgm:pt>
  </dgm:ptLst>
  <dgm:cxnLst>
    <dgm:cxn modelId="{22193E01-9223-47A2-9EA0-DEE0CB4DF1B0}" srcId="{CAEA3B7A-937B-4762-B625-7A880EABD8E4}" destId="{AA2A58AE-6639-4C6C-8456-C98B666D6209}" srcOrd="2" destOrd="0" parTransId="{26469AA7-EBA7-4928-99BF-12688B2743E3}" sibTransId="{9E224C50-EEA1-45E1-9C03-D8686DB2F666}"/>
    <dgm:cxn modelId="{594DEF0A-99CD-4308-9C0B-7BBF179FD7A0}" type="presOf" srcId="{13CB30B7-6D81-4BF6-99E4-6DF55C4BF0AD}" destId="{185D6C03-75C1-4A8B-8BE7-279DBE7876E6}" srcOrd="0" destOrd="0" presId="urn:microsoft.com/office/officeart/2005/8/layout/hierarchy1"/>
    <dgm:cxn modelId="{D06C254D-E43B-45DE-8741-A68105A204C6}" type="presOf" srcId="{1A614CFC-5DBA-4CA6-9878-BEA4FC6E5CFC}" destId="{44AEBB9B-374E-40CD-82C6-BC7033C8ADB2}" srcOrd="0" destOrd="0" presId="urn:microsoft.com/office/officeart/2005/8/layout/hierarchy1"/>
    <dgm:cxn modelId="{DC0DA195-D47D-402A-BA48-6DDE4030E91D}" srcId="{CAEA3B7A-937B-4762-B625-7A880EABD8E4}" destId="{13CB30B7-6D81-4BF6-99E4-6DF55C4BF0AD}" srcOrd="0" destOrd="0" parTransId="{9C579308-4A8A-40D5-BA58-44E922BA061F}" sibTransId="{6BA2D137-5F79-46EE-A61B-74C55ADC3ED7}"/>
    <dgm:cxn modelId="{53ED27B4-5F45-4D0B-B935-5B1495D7DD7D}" srcId="{CAEA3B7A-937B-4762-B625-7A880EABD8E4}" destId="{1A614CFC-5DBA-4CA6-9878-BEA4FC6E5CFC}" srcOrd="1" destOrd="0" parTransId="{C22AA7AD-2FE6-4881-87BD-0055D3121B5B}" sibTransId="{94E71E9E-2140-475E-BE72-92DD9AE87247}"/>
    <dgm:cxn modelId="{71C7EBC0-133D-4760-88E9-97D951153B5D}" type="presOf" srcId="{AA2A58AE-6639-4C6C-8456-C98B666D6209}" destId="{D4BEA02E-366E-45F9-96B3-4D4A61B9D754}" srcOrd="0" destOrd="0" presId="urn:microsoft.com/office/officeart/2005/8/layout/hierarchy1"/>
    <dgm:cxn modelId="{A44229DD-D042-4B13-BE4F-AF5DACA8276C}" type="presOf" srcId="{CAEA3B7A-937B-4762-B625-7A880EABD8E4}" destId="{CC3BBEC0-77CD-4004-984C-811B1F57B1D1}" srcOrd="0" destOrd="0" presId="urn:microsoft.com/office/officeart/2005/8/layout/hierarchy1"/>
    <dgm:cxn modelId="{2A3371EE-00A9-4286-B08E-AA0DBBB1B2CC}" type="presParOf" srcId="{CC3BBEC0-77CD-4004-984C-811B1F57B1D1}" destId="{C5182099-7EF5-473E-8352-FAFBFF8A6392}" srcOrd="0" destOrd="0" presId="urn:microsoft.com/office/officeart/2005/8/layout/hierarchy1"/>
    <dgm:cxn modelId="{F90C9F45-955A-4B4B-8ABD-934216A9E9D3}" type="presParOf" srcId="{C5182099-7EF5-473E-8352-FAFBFF8A6392}" destId="{C8C204B8-4EF3-4ACB-9C61-71D75149E3EF}" srcOrd="0" destOrd="0" presId="urn:microsoft.com/office/officeart/2005/8/layout/hierarchy1"/>
    <dgm:cxn modelId="{9A559996-2E43-44C7-8CE9-104D2C8794F1}" type="presParOf" srcId="{C8C204B8-4EF3-4ACB-9C61-71D75149E3EF}" destId="{CD9BD3B5-B67A-4153-B683-64CD34AC47A5}" srcOrd="0" destOrd="0" presId="urn:microsoft.com/office/officeart/2005/8/layout/hierarchy1"/>
    <dgm:cxn modelId="{276614C1-441F-4931-BFD2-BEC0B4F5017C}" type="presParOf" srcId="{C8C204B8-4EF3-4ACB-9C61-71D75149E3EF}" destId="{185D6C03-75C1-4A8B-8BE7-279DBE7876E6}" srcOrd="1" destOrd="0" presId="urn:microsoft.com/office/officeart/2005/8/layout/hierarchy1"/>
    <dgm:cxn modelId="{69C38CA4-E53B-4326-80B5-287D9F721828}" type="presParOf" srcId="{C5182099-7EF5-473E-8352-FAFBFF8A6392}" destId="{879A0D21-9759-48AE-B328-DF5EA156CAD8}" srcOrd="1" destOrd="0" presId="urn:microsoft.com/office/officeart/2005/8/layout/hierarchy1"/>
    <dgm:cxn modelId="{50F562A7-ECAC-480F-9B25-E6246A300F94}" type="presParOf" srcId="{CC3BBEC0-77CD-4004-984C-811B1F57B1D1}" destId="{0174CD91-62C9-47CF-AF15-2EF6D39200F0}" srcOrd="1" destOrd="0" presId="urn:microsoft.com/office/officeart/2005/8/layout/hierarchy1"/>
    <dgm:cxn modelId="{4CBBC5D2-31CE-4062-9423-C08A1229E11F}" type="presParOf" srcId="{0174CD91-62C9-47CF-AF15-2EF6D39200F0}" destId="{319EC8A1-49CA-4FA7-AF39-5E8335C05222}" srcOrd="0" destOrd="0" presId="urn:microsoft.com/office/officeart/2005/8/layout/hierarchy1"/>
    <dgm:cxn modelId="{DC5EA824-CC17-4545-B6A6-836CF7B30D24}" type="presParOf" srcId="{319EC8A1-49CA-4FA7-AF39-5E8335C05222}" destId="{3DC3DDBB-5AC5-4EF4-9051-12965F503FA3}" srcOrd="0" destOrd="0" presId="urn:microsoft.com/office/officeart/2005/8/layout/hierarchy1"/>
    <dgm:cxn modelId="{D93D1EF6-918C-4DB8-A9BA-D50A2A706DDB}" type="presParOf" srcId="{319EC8A1-49CA-4FA7-AF39-5E8335C05222}" destId="{44AEBB9B-374E-40CD-82C6-BC7033C8ADB2}" srcOrd="1" destOrd="0" presId="urn:microsoft.com/office/officeart/2005/8/layout/hierarchy1"/>
    <dgm:cxn modelId="{6D19962E-4DE2-4ACF-8625-6D459E70A0C7}" type="presParOf" srcId="{0174CD91-62C9-47CF-AF15-2EF6D39200F0}" destId="{3EBDF20C-710D-4075-A624-CD891A8C39E7}" srcOrd="1" destOrd="0" presId="urn:microsoft.com/office/officeart/2005/8/layout/hierarchy1"/>
    <dgm:cxn modelId="{B954E4E9-D46D-4F4B-A40F-54CF0D4EA94B}" type="presParOf" srcId="{CC3BBEC0-77CD-4004-984C-811B1F57B1D1}" destId="{311A6097-8302-4EC3-ABB6-6C2B91B8ECBF}" srcOrd="2" destOrd="0" presId="urn:microsoft.com/office/officeart/2005/8/layout/hierarchy1"/>
    <dgm:cxn modelId="{0F29BF9D-8D1A-42F2-A7CC-88EE255D4A78}" type="presParOf" srcId="{311A6097-8302-4EC3-ABB6-6C2B91B8ECBF}" destId="{E123BF69-6F08-41DD-B3E8-C8102665A8FC}" srcOrd="0" destOrd="0" presId="urn:microsoft.com/office/officeart/2005/8/layout/hierarchy1"/>
    <dgm:cxn modelId="{F7B6F51A-A4DD-41B2-832D-A089CF3FCB2A}" type="presParOf" srcId="{E123BF69-6F08-41DD-B3E8-C8102665A8FC}" destId="{F5D0DFAE-8B80-4FA7-AA10-8A4DE4973422}" srcOrd="0" destOrd="0" presId="urn:microsoft.com/office/officeart/2005/8/layout/hierarchy1"/>
    <dgm:cxn modelId="{A09DBC46-F91D-4421-8673-9D4B1B24B33E}" type="presParOf" srcId="{E123BF69-6F08-41DD-B3E8-C8102665A8FC}" destId="{D4BEA02E-366E-45F9-96B3-4D4A61B9D754}" srcOrd="1" destOrd="0" presId="urn:microsoft.com/office/officeart/2005/8/layout/hierarchy1"/>
    <dgm:cxn modelId="{4F19CB63-5F7B-4F90-A45B-0830CDBDBEC7}" type="presParOf" srcId="{311A6097-8302-4EC3-ABB6-6C2B91B8ECBF}" destId="{03C77C3B-D13F-40A7-A522-9B9DA3147BC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9BD3B5-B67A-4153-B683-64CD34AC47A5}">
      <dsp:nvSpPr>
        <dsp:cNvPr id="0" name=""/>
        <dsp:cNvSpPr/>
      </dsp:nvSpPr>
      <dsp:spPr>
        <a:xfrm>
          <a:off x="0" y="567487"/>
          <a:ext cx="3064322" cy="19458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5D6C03-75C1-4A8B-8BE7-279DBE7876E6}">
      <dsp:nvSpPr>
        <dsp:cNvPr id="0" name=""/>
        <dsp:cNvSpPr/>
      </dsp:nvSpPr>
      <dsp:spPr>
        <a:xfrm>
          <a:off x="340480" y="890944"/>
          <a:ext cx="3064322" cy="19458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Education </a:t>
          </a:r>
        </a:p>
      </dsp:txBody>
      <dsp:txXfrm>
        <a:off x="397472" y="947936"/>
        <a:ext cx="2950338" cy="1831860"/>
      </dsp:txXfrm>
    </dsp:sp>
    <dsp:sp modelId="{3DC3DDBB-5AC5-4EF4-9051-12965F503FA3}">
      <dsp:nvSpPr>
        <dsp:cNvPr id="0" name=""/>
        <dsp:cNvSpPr/>
      </dsp:nvSpPr>
      <dsp:spPr>
        <a:xfrm>
          <a:off x="3745283" y="567487"/>
          <a:ext cx="3064322" cy="19458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AEBB9B-374E-40CD-82C6-BC7033C8ADB2}">
      <dsp:nvSpPr>
        <dsp:cNvPr id="0" name=""/>
        <dsp:cNvSpPr/>
      </dsp:nvSpPr>
      <dsp:spPr>
        <a:xfrm>
          <a:off x="4085763" y="890944"/>
          <a:ext cx="3064322" cy="19458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Income</a:t>
          </a:r>
        </a:p>
      </dsp:txBody>
      <dsp:txXfrm>
        <a:off x="4142755" y="947936"/>
        <a:ext cx="2950338" cy="1831860"/>
      </dsp:txXfrm>
    </dsp:sp>
    <dsp:sp modelId="{F5D0DFAE-8B80-4FA7-AA10-8A4DE4973422}">
      <dsp:nvSpPr>
        <dsp:cNvPr id="0" name=""/>
        <dsp:cNvSpPr/>
      </dsp:nvSpPr>
      <dsp:spPr>
        <a:xfrm>
          <a:off x="7490566" y="567487"/>
          <a:ext cx="3064322" cy="19458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BEA02E-366E-45F9-96B3-4D4A61B9D754}">
      <dsp:nvSpPr>
        <dsp:cNvPr id="0" name=""/>
        <dsp:cNvSpPr/>
      </dsp:nvSpPr>
      <dsp:spPr>
        <a:xfrm>
          <a:off x="7831047" y="890944"/>
          <a:ext cx="3064322" cy="19458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Unemployment</a:t>
          </a:r>
        </a:p>
      </dsp:txBody>
      <dsp:txXfrm>
        <a:off x="7888039" y="947936"/>
        <a:ext cx="2950338" cy="18318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272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963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1449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468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538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1/19/2023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567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8039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1/19/2023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4613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321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6270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6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518797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8579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0203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974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1399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8029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332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2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bg2">
                <a:lumMod val="60000"/>
                <a:lumOff val="4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1266958"/>
            <a:ext cx="2904124" cy="4528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>
                <a:cs typeface="Calibri" panose="020F0502020204030204"/>
              </a:rPr>
              <a:t>Demarr Rice</a:t>
            </a:r>
          </a:p>
          <a:p>
            <a:pPr algn="r"/>
            <a:r>
              <a:rPr lang="en-US">
                <a:cs typeface="Calibri" panose="020F0502020204030204"/>
              </a:rPr>
              <a:t>Andrew La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266958"/>
            <a:ext cx="6808362" cy="4528457"/>
          </a:xfrm>
        </p:spPr>
        <p:txBody>
          <a:bodyPr anchor="ctr">
            <a:normAutofit/>
          </a:bodyPr>
          <a:lstStyle/>
          <a:p>
            <a:r>
              <a:rPr lang="en-US" b="1">
                <a:cs typeface="Calibri Light"/>
              </a:rPr>
              <a:t>Hate Crime Data Challenge</a:t>
            </a:r>
            <a:endParaRPr lang="en-US">
              <a:cs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E86610-8094-8F83-7D7A-A8DED2C40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US" b="1">
                <a:solidFill>
                  <a:schemeClr val="bg2"/>
                </a:solidFill>
                <a:cs typeface="Calibri Light"/>
              </a:rPr>
              <a:t>What's a Hate Crime?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555EF-BBB5-FAED-5106-6A85B626C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6269434" cy="447082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endParaRPr lang="en-US" sz="17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endParaRPr lang="en-US" sz="1700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en-US" sz="1700">
                <a:latin typeface="Times New Roman"/>
                <a:cs typeface="Calibri" panose="020F0502020204030204"/>
              </a:rPr>
              <a:t>A crime motivated by prejudice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>
                <a:latin typeface="Times New Roman"/>
                <a:cs typeface="Calibri" panose="020F0502020204030204"/>
              </a:rPr>
              <a:t>             Assault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>
                <a:latin typeface="Times New Roman"/>
                <a:cs typeface="Calibri" panose="020F0502020204030204"/>
              </a:rPr>
              <a:t>             Intimidation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>
                <a:latin typeface="Times New Roman"/>
                <a:cs typeface="Calibri" panose="020F0502020204030204"/>
              </a:rPr>
              <a:t>             Burglary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>
                <a:latin typeface="Times New Roman"/>
                <a:cs typeface="Calibri" panose="020F0502020204030204"/>
              </a:rPr>
              <a:t>             </a:t>
            </a:r>
          </a:p>
          <a:p>
            <a:pPr>
              <a:lnSpc>
                <a:spcPct val="90000"/>
              </a:lnSpc>
            </a:pPr>
            <a:r>
              <a:rPr lang="en-US" sz="1700">
                <a:latin typeface="Times New Roman"/>
                <a:cs typeface="Calibri" panose="020F0502020204030204"/>
              </a:rPr>
              <a:t>On the basis of  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>
                <a:latin typeface="Times New Roman"/>
                <a:cs typeface="Calibri" panose="020F0502020204030204"/>
              </a:rPr>
              <a:t>             Race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>
                <a:latin typeface="Times New Roman"/>
                <a:cs typeface="Calibri" panose="020F0502020204030204"/>
              </a:rPr>
              <a:t>             Religion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>
                <a:latin typeface="Times New Roman"/>
                <a:cs typeface="Calibri" panose="020F0502020204030204"/>
              </a:rPr>
              <a:t>             Sexual Orientation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>
                <a:latin typeface="Times New Roman"/>
                <a:cs typeface="Calibri" panose="020F0502020204030204"/>
              </a:rPr>
              <a:t>             Many other things</a:t>
            </a:r>
          </a:p>
        </p:txBody>
      </p:sp>
    </p:spTree>
    <p:extLst>
      <p:ext uri="{BB962C8B-B14F-4D97-AF65-F5344CB8AC3E}">
        <p14:creationId xmlns:p14="http://schemas.microsoft.com/office/powerpoint/2010/main" val="10742445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13C9C0A-47AD-49A5-838A-A43281BDC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7">
            <a:extLst>
              <a:ext uri="{FF2B5EF4-FFF2-40B4-BE49-F238E27FC236}">
                <a16:creationId xmlns:a16="http://schemas.microsoft.com/office/drawing/2014/main" id="{79507746-2C84-4EB6-B021-47E528910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088CF-C1E6-40DC-D209-D0A71529D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EBEBEB"/>
                </a:solidFill>
                <a:cs typeface="Calibri Light"/>
              </a:rPr>
              <a:t>What can affect Hate Crime?</a:t>
            </a:r>
            <a:endParaRPr lang="en-US" b="1">
              <a:solidFill>
                <a:srgbClr val="EBEBEB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B0D28F5-B926-4D9B-9413-91E73A4C6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B3D24C5-CE61-47C8-A0D0-C767528D1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512FB23A-8CD0-3FC1-A86D-118B37C90E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5988758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1294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F33E4-6302-D318-B4FD-15C49EBF3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>
            <a:normAutofit/>
          </a:bodyPr>
          <a:lstStyle/>
          <a:p>
            <a:r>
              <a:rPr lang="en-US" b="1">
                <a:cs typeface="Calibri Light"/>
              </a:rPr>
              <a:t>Data Tables</a:t>
            </a:r>
            <a:endParaRPr lang="en-US" b="1"/>
          </a:p>
        </p:txBody>
      </p:sp>
      <p:sp>
        <p:nvSpPr>
          <p:cNvPr id="33" name="Freeform 23">
            <a:extLst>
              <a:ext uri="{FF2B5EF4-FFF2-40B4-BE49-F238E27FC236}">
                <a16:creationId xmlns:a16="http://schemas.microsoft.com/office/drawing/2014/main" id="{B73B6772-591A-4693-928C-DBC76DED4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5">
            <a:extLst>
              <a:ext uri="{FF2B5EF4-FFF2-40B4-BE49-F238E27FC236}">
                <a16:creationId xmlns:a16="http://schemas.microsoft.com/office/drawing/2014/main" id="{DF7B3D85-9113-4F35-900A-E715C57FF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45057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680EBCB-6C14-4A9B-8857-C922E0F46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4411" y="0"/>
            <a:ext cx="6098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5" descr="Table&#10;&#10;Description automatically generated">
            <a:extLst>
              <a:ext uri="{FF2B5EF4-FFF2-40B4-BE49-F238E27FC236}">
                <a16:creationId xmlns:a16="http://schemas.microsoft.com/office/drawing/2014/main" id="{98A1D6EF-1A78-0E0D-50E6-288CF79AE8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939" r="24319"/>
          <a:stretch/>
        </p:blipFill>
        <p:spPr>
          <a:xfrm>
            <a:off x="9212462" y="1397870"/>
            <a:ext cx="2627752" cy="1762880"/>
          </a:xfrm>
          <a:prstGeom prst="rect">
            <a:avLst/>
          </a:prstGeom>
          <a:effectLst/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9A88AE3E-2DAB-4AA1-916B-90374D40B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6" name="Content Placeholder 9">
            <a:extLst>
              <a:ext uri="{FF2B5EF4-FFF2-40B4-BE49-F238E27FC236}">
                <a16:creationId xmlns:a16="http://schemas.microsoft.com/office/drawing/2014/main" id="{7EC48031-F5E4-2751-A007-1EE99F3D5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3" y="2052918"/>
            <a:ext cx="4165146" cy="41954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cs typeface="Calibri"/>
              </a:rPr>
              <a:t>Primary Data Table</a:t>
            </a:r>
          </a:p>
          <a:p>
            <a:pPr lvl="1"/>
            <a:r>
              <a:rPr lang="en-US">
                <a:cs typeface="Calibri"/>
              </a:rPr>
              <a:t>Hate Crime Table</a:t>
            </a:r>
          </a:p>
          <a:p>
            <a:r>
              <a:rPr lang="en-US">
                <a:cs typeface="Calibri"/>
              </a:rPr>
              <a:t>Dimension Tables</a:t>
            </a:r>
          </a:p>
          <a:p>
            <a:pPr lvl="1"/>
            <a:r>
              <a:rPr lang="en-US">
                <a:cs typeface="Calibri"/>
              </a:rPr>
              <a:t>Unemployment Report</a:t>
            </a:r>
          </a:p>
          <a:p>
            <a:pPr lvl="1"/>
            <a:r>
              <a:rPr lang="en-US">
                <a:cs typeface="Calibri"/>
              </a:rPr>
              <a:t>Agency Hate Crime Reporting by State and Federal</a:t>
            </a:r>
          </a:p>
          <a:p>
            <a:pPr lvl="1"/>
            <a:r>
              <a:rPr lang="en-US">
                <a:cs typeface="Calibri"/>
              </a:rPr>
              <a:t>Education Level</a:t>
            </a:r>
          </a:p>
          <a:p>
            <a:r>
              <a:rPr lang="en-US">
                <a:cs typeface="Calibri"/>
              </a:rPr>
              <a:t>Relationships</a:t>
            </a:r>
          </a:p>
          <a:p>
            <a:pPr lvl="1"/>
            <a:r>
              <a:rPr lang="en-US">
                <a:cs typeface="Calibri"/>
              </a:rPr>
              <a:t>Connected by State Name</a:t>
            </a:r>
          </a:p>
        </p:txBody>
      </p:sp>
      <p:pic>
        <p:nvPicPr>
          <p:cNvPr id="14" name="Picture 14" descr="Diagram&#10;&#10;Description automatically generated">
            <a:extLst>
              <a:ext uri="{FF2B5EF4-FFF2-40B4-BE49-F238E27FC236}">
                <a16:creationId xmlns:a16="http://schemas.microsoft.com/office/drawing/2014/main" id="{E2E9F8CD-EF5E-C868-70B5-ADA40E759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0" y="1395802"/>
            <a:ext cx="2743200" cy="1639283"/>
          </a:xfrm>
          <a:prstGeom prst="rect">
            <a:avLst/>
          </a:prstGeom>
        </p:spPr>
      </p:pic>
      <p:pic>
        <p:nvPicPr>
          <p:cNvPr id="3" name="Picture 3" descr="Table&#10;&#10;Description automatically generated">
            <a:extLst>
              <a:ext uri="{FF2B5EF4-FFF2-40B4-BE49-F238E27FC236}">
                <a16:creationId xmlns:a16="http://schemas.microsoft.com/office/drawing/2014/main" id="{7DD4C243-0481-1A20-84AB-7CAB8C04CA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4261475"/>
            <a:ext cx="4605865" cy="180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3804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9">
            <a:extLst>
              <a:ext uri="{FF2B5EF4-FFF2-40B4-BE49-F238E27FC236}">
                <a16:creationId xmlns:a16="http://schemas.microsoft.com/office/drawing/2014/main" id="{87B6323F-75FD-4FFA-950D-6D013A6DC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1">
            <a:extLst>
              <a:ext uri="{FF2B5EF4-FFF2-40B4-BE49-F238E27FC236}">
                <a16:creationId xmlns:a16="http://schemas.microsoft.com/office/drawing/2014/main" id="{DA2C34EF-101A-44FE-8A31-E0A7F4776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3">
            <a:extLst>
              <a:ext uri="{FF2B5EF4-FFF2-40B4-BE49-F238E27FC236}">
                <a16:creationId xmlns:a16="http://schemas.microsoft.com/office/drawing/2014/main" id="{5C86EC89-02DB-4384-8A63-0EFFEFD1B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7" name="Picture 15">
            <a:extLst>
              <a:ext uri="{FF2B5EF4-FFF2-40B4-BE49-F238E27FC236}">
                <a16:creationId xmlns:a16="http://schemas.microsoft.com/office/drawing/2014/main" id="{54BB1565-EB36-4D75-8888-72796286D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7">
            <a:extLst>
              <a:ext uri="{FF2B5EF4-FFF2-40B4-BE49-F238E27FC236}">
                <a16:creationId xmlns:a16="http://schemas.microsoft.com/office/drawing/2014/main" id="{871DF8C3-722E-49D1-87D5-E0FB1D640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21" name="Rectangle 19">
            <a:extLst>
              <a:ext uri="{FF2B5EF4-FFF2-40B4-BE49-F238E27FC236}">
                <a16:creationId xmlns:a16="http://schemas.microsoft.com/office/drawing/2014/main" id="{93E59372-1F66-480B-ADD0-8000A0547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1">
            <a:extLst>
              <a:ext uri="{FF2B5EF4-FFF2-40B4-BE49-F238E27FC236}">
                <a16:creationId xmlns:a16="http://schemas.microsoft.com/office/drawing/2014/main" id="{3C2168E1-C2BD-4E6B-AA64-A020775AE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1284E63B-655D-4786-BE63-6BFFF5106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7" name="Freeform 15">
            <a:extLst>
              <a:ext uri="{FF2B5EF4-FFF2-40B4-BE49-F238E27FC236}">
                <a16:creationId xmlns:a16="http://schemas.microsoft.com/office/drawing/2014/main" id="{5CC17AAC-BEDA-43F6-96F9-6D5C1DCC3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4" descr="A picture containing table&#10;&#10;Description automatically generated">
            <a:extLst>
              <a:ext uri="{FF2B5EF4-FFF2-40B4-BE49-F238E27FC236}">
                <a16:creationId xmlns:a16="http://schemas.microsoft.com/office/drawing/2014/main" id="{EC4C58F2-432B-160C-E910-5830D7E912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6285703" y="934947"/>
            <a:ext cx="3500562" cy="2992980"/>
          </a:xfrm>
          <a:prstGeom prst="rect">
            <a:avLst/>
          </a:prstGeom>
          <a:effectLst/>
        </p:spPr>
      </p:pic>
      <p:sp useBgFill="1">
        <p:nvSpPr>
          <p:cNvPr id="30" name="Freeform 5">
            <a:extLst>
              <a:ext uri="{FF2B5EF4-FFF2-40B4-BE49-F238E27FC236}">
                <a16:creationId xmlns:a16="http://schemas.microsoft.com/office/drawing/2014/main" id="{27C31358-DB76-4D08-880F-623FB1485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4055532"/>
            <a:ext cx="12191695" cy="2802467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CECAF-D8DC-9645-9798-D21E1CAE4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58" y="4854344"/>
            <a:ext cx="9345155" cy="8618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Metadata</a:t>
            </a:r>
          </a:p>
        </p:txBody>
      </p:sp>
      <p:pic>
        <p:nvPicPr>
          <p:cNvPr id="5" name="Picture 5" descr="Table&#10;&#10;Description automatically generated">
            <a:extLst>
              <a:ext uri="{FF2B5EF4-FFF2-40B4-BE49-F238E27FC236}">
                <a16:creationId xmlns:a16="http://schemas.microsoft.com/office/drawing/2014/main" id="{0A542B75-49DF-8DF5-1988-A8FFFA89A7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55" y="636083"/>
            <a:ext cx="4805613" cy="329184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501624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0C5B1-89E9-B9E3-F86B-BEE6F4571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4944152" cy="1622321"/>
          </a:xfrm>
        </p:spPr>
        <p:txBody>
          <a:bodyPr>
            <a:normAutofit/>
          </a:bodyPr>
          <a:lstStyle/>
          <a:p>
            <a:r>
              <a:rPr lang="en-US" b="1">
                <a:cs typeface="Calibri Light"/>
              </a:rPr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7330F-CD6D-E4C2-AA7C-E83116195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4944151" cy="3785419"/>
          </a:xfrm>
        </p:spPr>
        <p:txBody>
          <a:bodyPr vert="horz" lIns="91440" tIns="45720" rIns="91440" bIns="45720" rtlCol="0">
            <a:normAutofit/>
          </a:bodyPr>
          <a:lstStyle/>
          <a:p>
            <a:pPr marL="228600" lvl="1">
              <a:lnSpc>
                <a:spcPct val="90000"/>
              </a:lnSpc>
            </a:pPr>
            <a:r>
              <a:rPr lang="en-US" sz="1400">
                <a:ea typeface="+mn-lt"/>
                <a:cs typeface="+mn-lt"/>
              </a:rPr>
              <a:t>Which state had the most hate crimes in 2020?</a:t>
            </a:r>
            <a:endParaRPr lang="en-US" sz="1400">
              <a:cs typeface="Calibri" panose="020F0502020204030204"/>
            </a:endParaRPr>
          </a:p>
          <a:p>
            <a:pPr marL="685800" lvl="2">
              <a:lnSpc>
                <a:spcPct val="90000"/>
              </a:lnSpc>
            </a:pPr>
            <a:r>
              <a:rPr lang="en-US" sz="1400">
                <a:ea typeface="+mn-lt"/>
                <a:cs typeface="+mn-lt"/>
              </a:rPr>
              <a:t>New Jersey, 1,428 Incidents</a:t>
            </a:r>
          </a:p>
          <a:p>
            <a:pPr marL="228600" lvl="1">
              <a:lnSpc>
                <a:spcPct val="90000"/>
              </a:lnSpc>
            </a:pPr>
            <a:r>
              <a:rPr lang="en-US" sz="1400">
                <a:ea typeface="+mn-lt"/>
                <a:cs typeface="+mn-lt"/>
              </a:rPr>
              <a:t>Which state has the highest hate crime per capita?</a:t>
            </a:r>
            <a:endParaRPr lang="en-US" sz="1400">
              <a:cs typeface="Calibri" panose="020F0502020204030204"/>
            </a:endParaRPr>
          </a:p>
          <a:p>
            <a:pPr marL="685800" lvl="2">
              <a:lnSpc>
                <a:spcPct val="90000"/>
              </a:lnSpc>
            </a:pPr>
            <a:r>
              <a:rPr lang="en-US" sz="1400">
                <a:ea typeface="+mn-lt"/>
                <a:cs typeface="+mn-lt"/>
              </a:rPr>
              <a:t>District of Columbia, .0315% </a:t>
            </a:r>
          </a:p>
          <a:p>
            <a:pPr marL="228600" lvl="1">
              <a:lnSpc>
                <a:spcPct val="90000"/>
              </a:lnSpc>
            </a:pPr>
            <a:r>
              <a:rPr lang="en-US" sz="1400">
                <a:ea typeface="+mn-lt"/>
                <a:cs typeface="+mn-lt"/>
              </a:rPr>
              <a:t>Does the State with the highest unemployment also have the highest rate of hate crime?</a:t>
            </a:r>
            <a:endParaRPr lang="en-US" sz="1400">
              <a:cs typeface="Calibri" panose="020F0502020204030204"/>
            </a:endParaRPr>
          </a:p>
          <a:p>
            <a:pPr marL="685800" lvl="2">
              <a:lnSpc>
                <a:spcPct val="90000"/>
              </a:lnSpc>
            </a:pPr>
            <a:r>
              <a:rPr lang="en-US" sz="1400">
                <a:cs typeface="Calibri" panose="020F0502020204030204"/>
              </a:rPr>
              <a:t>This correlation is not accurate.</a:t>
            </a:r>
          </a:p>
          <a:p>
            <a:pPr marL="228600" lvl="1">
              <a:lnSpc>
                <a:spcPct val="90000"/>
              </a:lnSpc>
            </a:pPr>
            <a:r>
              <a:rPr lang="en-US" sz="1400">
                <a:cs typeface="Calibri" panose="020F0502020204030204"/>
              </a:rPr>
              <a:t>How many hate crimes took place in Georgia, monthly, in 1997?</a:t>
            </a:r>
          </a:p>
          <a:p>
            <a:pPr marL="685800" lvl="2">
              <a:lnSpc>
                <a:spcPct val="90000"/>
              </a:lnSpc>
            </a:pPr>
            <a:r>
              <a:rPr lang="en-US" sz="1400">
                <a:cs typeface="Calibri" panose="020F0502020204030204"/>
              </a:rPr>
              <a:t>In total, 45 documented hate crimes took place in 1997</a:t>
            </a:r>
          </a:p>
          <a:p>
            <a:pPr marL="228600" lvl="1">
              <a:lnSpc>
                <a:spcPct val="90000"/>
              </a:lnSpc>
            </a:pPr>
            <a:r>
              <a:rPr lang="en-US" sz="1400">
                <a:cs typeface="Calibri" panose="020F0502020204030204"/>
              </a:rPr>
              <a:t>What kind of locations do most hate crimes take place?</a:t>
            </a:r>
          </a:p>
          <a:p>
            <a:pPr marL="685800" lvl="2">
              <a:lnSpc>
                <a:spcPct val="90000"/>
              </a:lnSpc>
            </a:pPr>
            <a:r>
              <a:rPr lang="en-US" sz="1400">
                <a:cs typeface="Calibri" panose="020F0502020204030204"/>
              </a:rPr>
              <a:t>Residence and Homes, 65,093 Incidents</a:t>
            </a:r>
          </a:p>
          <a:p>
            <a:pPr marL="228600" lvl="1">
              <a:lnSpc>
                <a:spcPct val="90000"/>
              </a:lnSpc>
            </a:pPr>
            <a:endParaRPr lang="en-US" sz="1400">
              <a:cs typeface="Calibri" panose="020F0502020204030204"/>
            </a:endParaRPr>
          </a:p>
          <a:p>
            <a:pPr marL="228600" lvl="1">
              <a:lnSpc>
                <a:spcPct val="90000"/>
              </a:lnSpc>
            </a:pPr>
            <a:endParaRPr lang="en-US" sz="1400">
              <a:cs typeface="Calibri" panose="020F0502020204030204"/>
            </a:endParaRPr>
          </a:p>
          <a:p>
            <a:pPr marL="457200" indent="-457200">
              <a:lnSpc>
                <a:spcPct val="90000"/>
              </a:lnSpc>
            </a:pPr>
            <a:endParaRPr lang="en-US" sz="1400">
              <a:cs typeface="Calibri" panose="020F0502020204030204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B1C2DFB7-5186-4D49-B5A6-99BDF443A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2950" y="0"/>
            <a:ext cx="609905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8E46F046-D267-4952-A9CF-D2E73187A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77582" y="484632"/>
            <a:ext cx="5130204" cy="573918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12700">
            <a:solidFill>
              <a:schemeClr val="tx2">
                <a:lumMod val="75000"/>
              </a:schemeClr>
            </a:solidFill>
          </a:ln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Table&#10;&#10;Description automatically generated">
            <a:extLst>
              <a:ext uri="{FF2B5EF4-FFF2-40B4-BE49-F238E27FC236}">
                <a16:creationId xmlns:a16="http://schemas.microsoft.com/office/drawing/2014/main" id="{1AE90D09-6762-0A88-6B52-F38AF6340F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" b="-2"/>
          <a:stretch/>
        </p:blipFill>
        <p:spPr>
          <a:xfrm>
            <a:off x="7358805" y="967430"/>
            <a:ext cx="3567759" cy="4773591"/>
          </a:xfrm>
          <a:prstGeom prst="rect">
            <a:avLst/>
          </a:prstGeom>
          <a:effectLst/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0BCBBE0-549F-4678-BF52-43A69367C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491700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BD723-2A4E-85CC-B23D-BA5DB7D89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Pivot Tables</a:t>
            </a:r>
          </a:p>
        </p:txBody>
      </p:sp>
      <p:pic>
        <p:nvPicPr>
          <p:cNvPr id="13" name="Picture 13" descr="A picture containing table&#10;&#10;Description automatically generated">
            <a:extLst>
              <a:ext uri="{FF2B5EF4-FFF2-40B4-BE49-F238E27FC236}">
                <a16:creationId xmlns:a16="http://schemas.microsoft.com/office/drawing/2014/main" id="{5644C743-BCF0-D079-2045-B1D48DFC27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2507" y="1208743"/>
            <a:ext cx="4062624" cy="5338480"/>
          </a:xfrm>
        </p:spPr>
      </p:pic>
      <p:pic>
        <p:nvPicPr>
          <p:cNvPr id="9" name="Picture 9" descr="Table&#10;&#10;Description automatically generated">
            <a:extLst>
              <a:ext uri="{FF2B5EF4-FFF2-40B4-BE49-F238E27FC236}">
                <a16:creationId xmlns:a16="http://schemas.microsoft.com/office/drawing/2014/main" id="{18587F1F-0540-DBDE-8028-6E67600D5B8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3899" b="3"/>
          <a:stretch/>
        </p:blipFill>
        <p:spPr>
          <a:xfrm>
            <a:off x="5107224" y="1208740"/>
            <a:ext cx="3110752" cy="533848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pic>
        <p:nvPicPr>
          <p:cNvPr id="14" name="Picture 14" descr="Table&#10;&#10;Description automatically generated">
            <a:extLst>
              <a:ext uri="{FF2B5EF4-FFF2-40B4-BE49-F238E27FC236}">
                <a16:creationId xmlns:a16="http://schemas.microsoft.com/office/drawing/2014/main" id="{9C7433EC-CD47-3DF6-F3CB-0123C7D685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6902" y="1207247"/>
            <a:ext cx="3042136" cy="533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9171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67">
            <a:extLst>
              <a:ext uri="{FF2B5EF4-FFF2-40B4-BE49-F238E27FC236}">
                <a16:creationId xmlns:a16="http://schemas.microsoft.com/office/drawing/2014/main" id="{AA085689-791F-4B8F-9F30-12415B97D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83" name="Picture 69">
            <a:extLst>
              <a:ext uri="{FF2B5EF4-FFF2-40B4-BE49-F238E27FC236}">
                <a16:creationId xmlns:a16="http://schemas.microsoft.com/office/drawing/2014/main" id="{AA3FED7F-6821-47C0-A464-E9278B241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84" name="Oval 71">
            <a:extLst>
              <a:ext uri="{FF2B5EF4-FFF2-40B4-BE49-F238E27FC236}">
                <a16:creationId xmlns:a16="http://schemas.microsoft.com/office/drawing/2014/main" id="{8F54B2FB-3F54-4350-8D1B-F86D677CA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5" name="Picture 73">
            <a:extLst>
              <a:ext uri="{FF2B5EF4-FFF2-40B4-BE49-F238E27FC236}">
                <a16:creationId xmlns:a16="http://schemas.microsoft.com/office/drawing/2014/main" id="{561B34F5-88E5-4711-BC16-3005C29AD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86" name="Picture 75">
            <a:extLst>
              <a:ext uri="{FF2B5EF4-FFF2-40B4-BE49-F238E27FC236}">
                <a16:creationId xmlns:a16="http://schemas.microsoft.com/office/drawing/2014/main" id="{4F3661D0-2268-4D3E-88BA-0647BCBE3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87" name="Rectangle 77">
            <a:extLst>
              <a:ext uri="{FF2B5EF4-FFF2-40B4-BE49-F238E27FC236}">
                <a16:creationId xmlns:a16="http://schemas.microsoft.com/office/drawing/2014/main" id="{DDB56DB5-0324-4F79-9AB8-CB18C1DC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4C3CA5-FC51-82D3-54B5-FE33662487A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2587" y="157232"/>
            <a:ext cx="8825658" cy="8347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/>
              <a:t>Power BI Dashboard</a:t>
            </a:r>
          </a:p>
        </p:txBody>
      </p:sp>
      <p:pic>
        <p:nvPicPr>
          <p:cNvPr id="7" name="Picture 7" descr="Graphical user interface&#10;&#10;Description automatically generated">
            <a:extLst>
              <a:ext uri="{FF2B5EF4-FFF2-40B4-BE49-F238E27FC236}">
                <a16:creationId xmlns:a16="http://schemas.microsoft.com/office/drawing/2014/main" id="{E79F8A3F-2998-F7F0-D41D-32980856E1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94" y="924135"/>
            <a:ext cx="10109200" cy="587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102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8">
            <a:extLst>
              <a:ext uri="{FF2B5EF4-FFF2-40B4-BE49-F238E27FC236}">
                <a16:creationId xmlns:a16="http://schemas.microsoft.com/office/drawing/2014/main" id="{7594FC8B-8CD2-407F-94F1-9C71F5AEC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6" name="Picture 10">
            <a:extLst>
              <a:ext uri="{FF2B5EF4-FFF2-40B4-BE49-F238E27FC236}">
                <a16:creationId xmlns:a16="http://schemas.microsoft.com/office/drawing/2014/main" id="{DBABC971-8D40-4A4F-AC60-28B917278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9" name="Oval 12">
            <a:extLst>
              <a:ext uri="{FF2B5EF4-FFF2-40B4-BE49-F238E27FC236}">
                <a16:creationId xmlns:a16="http://schemas.microsoft.com/office/drawing/2014/main" id="{B9C04DC5-313B-4FE4-B868-5672A3764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0" name="Picture 14">
            <a:extLst>
              <a:ext uri="{FF2B5EF4-FFF2-40B4-BE49-F238E27FC236}">
                <a16:creationId xmlns:a16="http://schemas.microsoft.com/office/drawing/2014/main" id="{791AE23E-90C9-4963-96E2-8DADBFC3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1" name="Picture 16">
            <a:extLst>
              <a:ext uri="{FF2B5EF4-FFF2-40B4-BE49-F238E27FC236}">
                <a16:creationId xmlns:a16="http://schemas.microsoft.com/office/drawing/2014/main" id="{C5F93E90-4379-4AAC-B021-E5FA6D974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32" name="Rectangle 18">
            <a:extLst>
              <a:ext uri="{FF2B5EF4-FFF2-40B4-BE49-F238E27FC236}">
                <a16:creationId xmlns:a16="http://schemas.microsoft.com/office/drawing/2014/main" id="{329FDD08-42D8-4AFF-90E5-5DAA5BC4C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3" name="Rectangle 20">
            <a:extLst>
              <a:ext uri="{FF2B5EF4-FFF2-40B4-BE49-F238E27FC236}">
                <a16:creationId xmlns:a16="http://schemas.microsoft.com/office/drawing/2014/main" id="{B87A2B17-D3E0-4B38-823F-45312C0B3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92A21B-8E82-4396-A130-C7531DF0A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ACA9027C-9377-4A86-A639-42BA502AD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7" name="Freeform 5">
            <a:extLst>
              <a:ext uri="{FF2B5EF4-FFF2-40B4-BE49-F238E27FC236}">
                <a16:creationId xmlns:a16="http://schemas.microsoft.com/office/drawing/2014/main" id="{423EDA5B-B414-4C7C-8CBA-3D9D79973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4055532"/>
            <a:ext cx="12191695" cy="2802467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E4405-2604-5FFA-EF1A-C365AD701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854346"/>
            <a:ext cx="9149350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Regression</a:t>
            </a:r>
          </a:p>
        </p:txBody>
      </p:sp>
      <p:pic>
        <p:nvPicPr>
          <p:cNvPr id="4" name="Picture 4" descr="Diagram, bubble chart&#10;&#10;Description automatically generated">
            <a:extLst>
              <a:ext uri="{FF2B5EF4-FFF2-40B4-BE49-F238E27FC236}">
                <a16:creationId xmlns:a16="http://schemas.microsoft.com/office/drawing/2014/main" id="{C434A569-ED49-531A-1554-18A13AA418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7"/>
          <a:stretch/>
        </p:blipFill>
        <p:spPr>
          <a:xfrm>
            <a:off x="2018347" y="202637"/>
            <a:ext cx="7370842" cy="372928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1996260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9">
            <a:extLst>
              <a:ext uri="{FF2B5EF4-FFF2-40B4-BE49-F238E27FC236}">
                <a16:creationId xmlns:a16="http://schemas.microsoft.com/office/drawing/2014/main" id="{87B6323F-75FD-4FFA-950D-6D013A6DC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0" name="Picture 11">
            <a:extLst>
              <a:ext uri="{FF2B5EF4-FFF2-40B4-BE49-F238E27FC236}">
                <a16:creationId xmlns:a16="http://schemas.microsoft.com/office/drawing/2014/main" id="{DA2C34EF-101A-44FE-8A31-E0A7F4776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1" name="Oval 13">
            <a:extLst>
              <a:ext uri="{FF2B5EF4-FFF2-40B4-BE49-F238E27FC236}">
                <a16:creationId xmlns:a16="http://schemas.microsoft.com/office/drawing/2014/main" id="{5C86EC89-02DB-4384-8A63-0EFFEFD1B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2" name="Picture 15">
            <a:extLst>
              <a:ext uri="{FF2B5EF4-FFF2-40B4-BE49-F238E27FC236}">
                <a16:creationId xmlns:a16="http://schemas.microsoft.com/office/drawing/2014/main" id="{54BB1565-EB36-4D75-8888-72796286D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4" name="Picture 17">
            <a:extLst>
              <a:ext uri="{FF2B5EF4-FFF2-40B4-BE49-F238E27FC236}">
                <a16:creationId xmlns:a16="http://schemas.microsoft.com/office/drawing/2014/main" id="{871DF8C3-722E-49D1-87D5-E0FB1D640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46" name="Rectangle 19">
            <a:extLst>
              <a:ext uri="{FF2B5EF4-FFF2-40B4-BE49-F238E27FC236}">
                <a16:creationId xmlns:a16="http://schemas.microsoft.com/office/drawing/2014/main" id="{93E59372-1F66-480B-ADD0-8000A0547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F86738-5563-E28D-490E-3859B5B5E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0518" y="1447800"/>
            <a:ext cx="4143781" cy="309698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Bootstrap</a:t>
            </a:r>
          </a:p>
        </p:txBody>
      </p:sp>
      <p:sp>
        <p:nvSpPr>
          <p:cNvPr id="48" name="Rectangle 21">
            <a:extLst>
              <a:ext uri="{FF2B5EF4-FFF2-40B4-BE49-F238E27FC236}">
                <a16:creationId xmlns:a16="http://schemas.microsoft.com/office/drawing/2014/main" id="{A4193045-6203-49D2-B6C8-9E9AEFB4E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05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 27">
            <a:extLst>
              <a:ext uri="{FF2B5EF4-FFF2-40B4-BE49-F238E27FC236}">
                <a16:creationId xmlns:a16="http://schemas.microsoft.com/office/drawing/2014/main" id="{D1266691-328C-490E-BF64-A9118CE39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49646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 5">
            <a:extLst>
              <a:ext uri="{FF2B5EF4-FFF2-40B4-BE49-F238E27FC236}">
                <a16:creationId xmlns:a16="http://schemas.microsoft.com/office/drawing/2014/main" id="{616614DD-5614-427D-9C05-739E6F743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2894561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4" name="Picture 4" descr="Diagram, bubble chart&#10;&#10;Description automatically generated">
            <a:extLst>
              <a:ext uri="{FF2B5EF4-FFF2-40B4-BE49-F238E27FC236}">
                <a16:creationId xmlns:a16="http://schemas.microsoft.com/office/drawing/2014/main" id="{75813068-C4B2-A315-7BA4-EB19B10E38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7"/>
          <a:stretch/>
        </p:blipFill>
        <p:spPr>
          <a:xfrm>
            <a:off x="773660" y="647698"/>
            <a:ext cx="5194793" cy="2727267"/>
          </a:xfrm>
          <a:prstGeom prst="rect">
            <a:avLst/>
          </a:prstGeom>
          <a:effectLst/>
        </p:spPr>
      </p:pic>
      <p:pic>
        <p:nvPicPr>
          <p:cNvPr id="5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47FEE2D4-E9D4-9FB6-439D-DF44DA3B3DA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3" b="742"/>
          <a:stretch/>
        </p:blipFill>
        <p:spPr>
          <a:xfrm>
            <a:off x="1506055" y="3482108"/>
            <a:ext cx="3726154" cy="272772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8572814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A085689-791F-4B8F-9F30-12415B97D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3FED7F-6821-47C0-A464-E9278B241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8F54B2FB-3F54-4350-8D1B-F86D677CA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61B34F5-88E5-4711-BC16-3005C29AD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F3661D0-2268-4D3E-88BA-0647BCBE3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DB56DB5-0324-4F79-9AB8-CB18C1DC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886504-F0D6-F29A-CE80-40D4560F1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2108" y="1454964"/>
            <a:ext cx="4802191" cy="33088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/>
              <a:t>Q &amp; A</a:t>
            </a:r>
          </a:p>
        </p:txBody>
      </p:sp>
      <p:pic>
        <p:nvPicPr>
          <p:cNvPr id="5" name="Picture 4" descr="Magnifying glass and question mark">
            <a:extLst>
              <a:ext uri="{FF2B5EF4-FFF2-40B4-BE49-F238E27FC236}">
                <a16:creationId xmlns:a16="http://schemas.microsoft.com/office/drawing/2014/main" id="{6B0AC073-B27B-DAA5-C4FF-79411152C52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6720" r="23293"/>
          <a:stretch/>
        </p:blipFill>
        <p:spPr>
          <a:xfrm>
            <a:off x="-1" y="10"/>
            <a:ext cx="609440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069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185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Times New Roman</vt:lpstr>
      <vt:lpstr>Wingdings 3</vt:lpstr>
      <vt:lpstr>Ion</vt:lpstr>
      <vt:lpstr>Hate Crime Data Challenge</vt:lpstr>
      <vt:lpstr>What's a Hate Crime?</vt:lpstr>
      <vt:lpstr>What can affect Hate Crime?</vt:lpstr>
      <vt:lpstr>Data Tables</vt:lpstr>
      <vt:lpstr>Metadata</vt:lpstr>
      <vt:lpstr>Research Questions</vt:lpstr>
      <vt:lpstr>Pivot Tables</vt:lpstr>
      <vt:lpstr>Power BI Dashboard</vt:lpstr>
      <vt:lpstr>Regression</vt:lpstr>
      <vt:lpstr>Bootstrap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Demarr Rice</cp:lastModifiedBy>
  <cp:revision>8</cp:revision>
  <dcterms:created xsi:type="dcterms:W3CDTF">2022-11-07T19:59:23Z</dcterms:created>
  <dcterms:modified xsi:type="dcterms:W3CDTF">2023-01-19T16:08:30Z</dcterms:modified>
</cp:coreProperties>
</file>